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15400" y="0"/>
            <a:ext cx="3291840" cy="6858000"/>
          </a:xfrm>
          <a:prstGeom prst="rect">
            <a:avLst/>
          </a:prstGeom>
          <a:solidFill>
            <a:srgbClr val="172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Consolas"/>
              </a:rPr>
              <a:t>APT · INGENIERÍA EN INFORMÁTICA · AVANCE FASE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82296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>
                <a:solidFill>
                  <a:srgbClr val="FFFFFF"/>
                </a:solidFill>
                <a:latin typeface="Segoe UI"/>
              </a:rPr>
              <a:t>Proyecto APT</a:t>
            </a:r>
          </a:p>
          <a:p>
            <a:pPr algn="l"/>
            <a:r>
              <a:rPr sz="6400" b="1">
                <a:solidFill>
                  <a:srgbClr val="FFFFFF"/>
                </a:solidFill>
                <a:latin typeface="Segoe UI"/>
              </a:rPr>
              <a:t>FeriaPlace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69080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CBD5E1"/>
                </a:solidFill>
                <a:latin typeface="Segoe UI"/>
              </a:rPr>
              <a:t>Aplicación web para gestionar los puestos de ferias de temporada.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440680"/>
            <a:ext cx="1069848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577840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Segoe UI"/>
              </a:rPr>
              <a:t>Bastian Reyes</a:t>
            </a:r>
          </a:p>
          <a:p>
            <a:pPr algn="l"/>
            <a:r>
              <a:rPr sz="1000" b="0">
                <a:solidFill>
                  <a:srgbClr val="94A3B8"/>
                </a:solidFill>
                <a:latin typeface="Consolas"/>
              </a:rPr>
              <a:t>Ingeniería en Informática · Sede Maipú · Sección 010V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5577840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>
                <a:solidFill>
                  <a:srgbClr val="F59E0B"/>
                </a:solidFill>
                <a:latin typeface="Consolas"/>
              </a:rPr>
              <a:t>SEMANA 10 · 2026</a:t>
            </a:r>
          </a:p>
          <a:p>
            <a:pPr algn="r"/>
            <a:r>
              <a:rPr sz="1000" b="0">
                <a:solidFill>
                  <a:srgbClr val="94A3B8"/>
                </a:solidFill>
                <a:latin typeface="Consolas"/>
              </a:rPr>
              <a:t>SEGUNDA EXPOSICIÓN · CASO DE USO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Consolas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8368"/>
            <a:ext cx="256032" cy="2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8404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Consolas"/>
              </a:rPr>
              <a:t>DESCRIPCIÓN DEL PROYECTO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  <a:latin typeface="Segoe UI"/>
              </a:rPr>
              <a:t>FeriaPlace centraliza las ferias de temporada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72768"/>
            <a:ext cx="10908792" cy="9525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onsolas"/>
              </a:rPr>
              <a:t>FERIAPLACE   ·   BASTIAN REYES   ·   APT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onsolas"/>
              </a:rPr>
              <a:t>Descripción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6596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59E0B"/>
                </a:solidFill>
                <a:latin typeface="Consola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011680"/>
            <a:ext cx="6309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11827"/>
                </a:solidFill>
                <a:latin typeface="Segoe UI"/>
              </a:rPr>
              <a:t>Aplicación web para gestionar puestos en ferias de temporada, como las navideñas.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2608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59E0B"/>
                </a:solidFill>
                <a:latin typeface="Consola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971800"/>
            <a:ext cx="6309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11827"/>
                </a:solidFill>
                <a:latin typeface="Segoe UI"/>
              </a:rPr>
              <a:t>El administrador crea cada feria con fechas, precio y un plano tipo croquis (puestos, escenario, baños y pasillos).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8620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59E0B"/>
                </a:solidFill>
                <a:latin typeface="Consola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931920"/>
            <a:ext cx="6309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11827"/>
                </a:solidFill>
                <a:latin typeface="Segoe UI"/>
              </a:rPr>
              <a:t>Los comerciantes piden una cuenta, que el administrador aprueba, y luego solicitan un puesto y siguen su estado.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8463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59E0B"/>
                </a:solidFill>
                <a:latin typeface="Consolas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892040"/>
            <a:ext cx="6309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11827"/>
                </a:solidFill>
                <a:latin typeface="Segoe UI"/>
              </a:rPr>
              <a:t>Centraliza la información y reduce los errores de asignación de puestos.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92440" y="1965960"/>
            <a:ext cx="3456432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1965960"/>
            <a:ext cx="38000" cy="35661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219456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onsolas"/>
              </a:rPr>
              <a:t>FUNCIONALIDADES CLAVE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560320"/>
            <a:ext cx="301752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11827"/>
                </a:solidFill>
                <a:latin typeface="Segoe UI"/>
              </a:rPr>
              <a:t>Plano tipo croquis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111827"/>
                </a:solidFill>
                <a:latin typeface="Segoe UI"/>
              </a:rPr>
              <a:t>Mapa de Santiago por comunas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111827"/>
                </a:solidFill>
                <a:latin typeface="Segoe UI"/>
              </a:rPr>
              <a:t>Calendario de ferias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111827"/>
                </a:solidFill>
                <a:latin typeface="Segoe UI"/>
              </a:rPr>
              <a:t>Solicitudes y asignación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111827"/>
                </a:solidFill>
                <a:latin typeface="Segoe UI"/>
              </a:rPr>
              <a:t>Aprobación de comerciantes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111827"/>
                </a:solidFill>
                <a:latin typeface="Segoe UI"/>
              </a:rPr>
              <a:t>Pago registrado a mano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111827"/>
                </a:solidFill>
                <a:latin typeface="Segoe UI"/>
              </a:rPr>
              <a:t>Reporte de ocupación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Consolas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8368"/>
            <a:ext cx="256032" cy="2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8404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Consolas"/>
              </a:rPr>
              <a:t>FUNDAMENTACIÓN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  <a:latin typeface="Segoe UI"/>
              </a:rPr>
              <a:t>Problema y relevancia del proyecto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72768"/>
            <a:ext cx="10908792" cy="9525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onsolas"/>
              </a:rPr>
              <a:t>FERIAPLACE   ·   BASTIAN REYES   ·   APT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onsolas"/>
              </a:rPr>
              <a:t>Fundamentación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920240"/>
            <a:ext cx="5376672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20240"/>
            <a:ext cx="411480" cy="3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148840"/>
            <a:ext cx="49194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  <a:latin typeface="Segoe UI"/>
              </a:rPr>
              <a:t>Problema actual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560320"/>
            <a:ext cx="491947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Segoe UI"/>
              </a:rPr>
              <a:t>En las ferias de temporada, los puestos y el plano se llevan a mano o en medios dispersos.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920240"/>
            <a:ext cx="5376672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920240"/>
            <a:ext cx="411480" cy="3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148840"/>
            <a:ext cx="49194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  <a:latin typeface="Segoe UI"/>
              </a:rPr>
              <a:t>Impacto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560320"/>
            <a:ext cx="491947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Segoe UI"/>
              </a:rPr>
              <a:t>Afecta a los organizadores y a los comerciantes que arriendan puestos.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114800"/>
            <a:ext cx="5376672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114800"/>
            <a:ext cx="411480" cy="3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343400"/>
            <a:ext cx="49194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  <a:latin typeface="Segoe UI"/>
              </a:rPr>
              <a:t>Solución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754880"/>
            <a:ext cx="491947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Segoe UI"/>
              </a:rPr>
              <a:t>FeriaPlace reúne en una sola plataforma las ferias, su plano, los comerciantes y las solicitudes.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4114800"/>
            <a:ext cx="5376672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4114800"/>
            <a:ext cx="411480" cy="3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343400"/>
            <a:ext cx="49194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  <a:latin typeface="Segoe UI"/>
              </a:rPr>
              <a:t>Pertinencia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54880"/>
            <a:ext cx="491947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Segoe UI"/>
              </a:rPr>
              <a:t>Relaciona competencias de Ingeniería en Informática con una necesidad real.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Consolas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8368"/>
            <a:ext cx="256032" cy="2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8404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Consolas"/>
              </a:rPr>
              <a:t>OBJETIVOS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  <a:latin typeface="Segoe UI"/>
              </a:rPr>
              <a:t>General y específicos, con su estado de avance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72768"/>
            <a:ext cx="10908792" cy="9525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onsolas"/>
              </a:rPr>
              <a:t>FERIAPLACE   ·   BASTIAN REYES   ·   APT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onsolas"/>
              </a:rPr>
              <a:t>Objetivos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onsolas"/>
              </a:rPr>
              <a:t>OBJETIVO GENERAL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40280"/>
            <a:ext cx="31089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11827"/>
                </a:solidFill>
                <a:latin typeface="Segoe UI"/>
              </a:rPr>
              <a:t>Desarrollar una aplicación web que facilite la gestión de puestos en ferias de temporada.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69080" y="1920240"/>
            <a:ext cx="9525" cy="4206240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9202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onsolas"/>
              </a:rPr>
              <a:t>OBJETIVOS ESPECÍFICOS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1920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onsolas"/>
              </a:rPr>
              <a:t>ESTADO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2860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onsolas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228600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Segoe UI"/>
              </a:rPr>
              <a:t>Diseñar un modelo de datos escalable e íntegro.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22860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16A34A"/>
                </a:solidFill>
                <a:latin typeface="Consolas"/>
              </a:rPr>
              <a:t>Terminado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2834640"/>
            <a:ext cx="7159752" cy="6350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292608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onsolas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292608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Segoe UI"/>
              </a:rPr>
              <a:t>Definir la arquitectura del frontend, el backend (API REST) y la base de datos.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29260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16A34A"/>
                </a:solidFill>
                <a:latin typeface="Consolas"/>
              </a:rPr>
              <a:t>Terminado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0" y="3474720"/>
            <a:ext cx="7159752" cy="6350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356616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onsola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356616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Segoe UI"/>
              </a:rPr>
              <a:t>Implementar ferias con plano editable y un mapa de Santiago por comunas.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35661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16A34A"/>
                </a:solidFill>
                <a:latin typeface="Consolas"/>
              </a:rPr>
              <a:t>Terminado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4114800"/>
            <a:ext cx="7159752" cy="6350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0" y="420624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onsola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92040" y="420624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Segoe UI"/>
              </a:rPr>
              <a:t>Desarrollar solicitudes con validación de disponibilidad del puesto.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42062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16A34A"/>
                </a:solidFill>
                <a:latin typeface="Consolas"/>
              </a:rPr>
              <a:t>Terminado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89120" y="4754880"/>
            <a:ext cx="7159752" cy="6350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0" y="48463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onsolas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92040" y="484632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Segoe UI"/>
              </a:rPr>
              <a:t>Registrar un precio referencial por puesto y marcar a mano si fue pagado (sin pagos reales).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48463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16A34A"/>
                </a:solidFill>
                <a:latin typeface="Consolas"/>
              </a:rPr>
              <a:t>Terminado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120" y="5394960"/>
            <a:ext cx="7159752" cy="6350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0" y="54864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onsolas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92040" y="548640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Segoe UI"/>
              </a:rPr>
              <a:t>Generar reportes de ocupación por feria.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92640" y="54864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16A34A"/>
                </a:solidFill>
                <a:latin typeface="Consolas"/>
              </a:rPr>
              <a:t>Terminado 15-10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89120" y="6035040"/>
            <a:ext cx="7159752" cy="6350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Consolas"/>
              </a:rP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8368"/>
            <a:ext cx="256032" cy="2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8404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Consolas"/>
              </a:rPr>
              <a:t>AVANCE DE LA FASE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  <a:latin typeface="Segoe UI"/>
              </a:rPr>
              <a:t>Qué está construido y qué queda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72768"/>
            <a:ext cx="10908792" cy="9525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onsolas"/>
              </a:rPr>
              <a:t>FERIAPLACE   ·   BASTIAN REYES   ·   APT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onsolas"/>
              </a:rPr>
              <a:t>Avance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874519"/>
            <a:ext cx="676656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874519"/>
            <a:ext cx="411480" cy="380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Segoe UI"/>
              </a:rPr>
              <a:t>9 de 10 funcionalidades terminadas · 92,5 % de la versión 1.0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697480"/>
            <a:ext cx="31089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A34A"/>
                </a:solidFill>
                <a:latin typeface="Segoe UI"/>
              </a:rPr>
              <a:t>✓  </a:t>
            </a:r>
            <a:r>
              <a:rPr sz="1300" b="0">
                <a:solidFill>
                  <a:srgbClr val="111827"/>
                </a:solidFill>
                <a:latin typeface="Segoe UI"/>
              </a:rPr>
              <a:t>Registro, inicio de sesión y roles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1089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A34A"/>
                </a:solidFill>
                <a:latin typeface="Segoe UI"/>
              </a:rPr>
              <a:t>✓  </a:t>
            </a:r>
            <a:r>
              <a:rPr sz="1300" b="0">
                <a:solidFill>
                  <a:srgbClr val="111827"/>
                </a:solidFill>
                <a:latin typeface="Segoe UI"/>
              </a:rPr>
              <a:t>Aprobación de cuentas nuevas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14216"/>
            <a:ext cx="31089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A34A"/>
                </a:solidFill>
                <a:latin typeface="Segoe UI"/>
              </a:rPr>
              <a:t>✓  </a:t>
            </a:r>
            <a:r>
              <a:rPr sz="1300" b="0">
                <a:solidFill>
                  <a:srgbClr val="111827"/>
                </a:solidFill>
                <a:latin typeface="Segoe UI"/>
              </a:rPr>
              <a:t>Ferias de temporada con fechas y calendario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672584"/>
            <a:ext cx="31089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A34A"/>
                </a:solidFill>
                <a:latin typeface="Segoe UI"/>
              </a:rPr>
              <a:t>✓  </a:t>
            </a:r>
            <a:r>
              <a:rPr sz="1300" b="0">
                <a:solidFill>
                  <a:srgbClr val="111827"/>
                </a:solidFill>
                <a:latin typeface="Segoe UI"/>
              </a:rPr>
              <a:t>Plano tipo croquis con puestos y elementos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30952"/>
            <a:ext cx="31089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A34A"/>
                </a:solidFill>
                <a:latin typeface="Segoe UI"/>
              </a:rPr>
              <a:t>✓  </a:t>
            </a:r>
            <a:r>
              <a:rPr sz="1300" b="0">
                <a:solidFill>
                  <a:srgbClr val="111827"/>
                </a:solidFill>
                <a:latin typeface="Segoe UI"/>
              </a:rPr>
              <a:t>Mapa de Santiago por comunas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2697480"/>
            <a:ext cx="31089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A34A"/>
                </a:solidFill>
                <a:latin typeface="Segoe UI"/>
              </a:rPr>
              <a:t>✓  </a:t>
            </a:r>
            <a:r>
              <a:rPr sz="1300" b="0">
                <a:solidFill>
                  <a:srgbClr val="111827"/>
                </a:solidFill>
                <a:latin typeface="Segoe UI"/>
              </a:rPr>
              <a:t>Solicitud y asignación con transacción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0520" y="3355848"/>
            <a:ext cx="31089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A34A"/>
                </a:solidFill>
                <a:latin typeface="Segoe UI"/>
              </a:rPr>
              <a:t>✓  </a:t>
            </a:r>
            <a:r>
              <a:rPr sz="1300" b="0">
                <a:solidFill>
                  <a:srgbClr val="111827"/>
                </a:solidFill>
                <a:latin typeface="Segoe UI"/>
              </a:rPr>
              <a:t>Mis solicitudes e historial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4014216"/>
            <a:ext cx="31089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A34A"/>
                </a:solidFill>
                <a:latin typeface="Segoe UI"/>
              </a:rPr>
              <a:t>✓  </a:t>
            </a:r>
            <a:r>
              <a:rPr sz="1300" b="0">
                <a:solidFill>
                  <a:srgbClr val="111827"/>
                </a:solidFill>
                <a:latin typeface="Segoe UI"/>
              </a:rPr>
              <a:t>Precio por puesto y pago marcado a mano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4672584"/>
            <a:ext cx="31089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A34A"/>
                </a:solidFill>
                <a:latin typeface="Segoe UI"/>
              </a:rPr>
              <a:t>✓  </a:t>
            </a:r>
            <a:r>
              <a:rPr sz="1300" b="0">
                <a:solidFill>
                  <a:srgbClr val="111827"/>
                </a:solidFill>
                <a:latin typeface="Segoe UI"/>
              </a:rPr>
              <a:t>Reporte de ocupación por feria y CSV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35240" y="1874519"/>
            <a:ext cx="3913632" cy="42976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09560" y="210312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Segoe UI"/>
              </a:rPr>
              <a:t>Pendiente para la Fase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9560" y="2697480"/>
            <a:ext cx="34290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300" b="1">
                <a:solidFill>
                  <a:srgbClr val="F59E0B"/>
                </a:solidFill>
                <a:latin typeface="Segoe UI"/>
              </a:rPr>
              <a:t>○  </a:t>
            </a:r>
            <a:r>
              <a:rPr sz="1300" b="0">
                <a:solidFill>
                  <a:srgbClr val="CBD5E1"/>
                </a:solidFill>
                <a:latin typeface="Segoe UI"/>
              </a:rPr>
              <a:t>Pruebas integrales: pruebas automatizadas de la API (hoy están probadas a mano)</a:t>
            </a:r>
          </a:p>
          <a:p>
            <a:pPr algn="l">
              <a:spcAft>
                <a:spcPts val="1200"/>
              </a:spcAft>
            </a:pPr>
            <a:r>
              <a:rPr sz="1300" b="1">
                <a:solidFill>
                  <a:srgbClr val="F59E0B"/>
                </a:solidFill>
                <a:latin typeface="Segoe UI"/>
              </a:rPr>
              <a:t>○  </a:t>
            </a:r>
            <a:r>
              <a:rPr sz="1300" b="0">
                <a:solidFill>
                  <a:srgbClr val="CBD5E1"/>
                </a:solidFill>
                <a:latin typeface="Segoe UI"/>
              </a:rPr>
              <a:t>Aviso al comerciante cuando cambia su solicitud</a:t>
            </a:r>
          </a:p>
          <a:p>
            <a:pPr algn="l">
              <a:spcAft>
                <a:spcPts val="1200"/>
              </a:spcAft>
            </a:pPr>
            <a:r>
              <a:rPr sz="1300" b="1">
                <a:solidFill>
                  <a:srgbClr val="F59E0B"/>
                </a:solidFill>
                <a:latin typeface="Segoe UI"/>
              </a:rPr>
              <a:t>○  </a:t>
            </a:r>
            <a:r>
              <a:rPr sz="1300" b="0">
                <a:solidFill>
                  <a:srgbClr val="CBD5E1"/>
                </a:solidFill>
                <a:latin typeface="Segoe UI"/>
              </a:rPr>
              <a:t>Probar la instalación en otro equipo</a:t>
            </a:r>
          </a:p>
          <a:p>
            <a:pPr algn="l">
              <a:spcAft>
                <a:spcPts val="1200"/>
              </a:spcAft>
            </a:pPr>
            <a:r>
              <a:rPr sz="1300" b="1">
                <a:solidFill>
                  <a:srgbClr val="F59E0B"/>
                </a:solidFill>
                <a:latin typeface="Segoe UI"/>
              </a:rPr>
              <a:t>○  </a:t>
            </a:r>
            <a:r>
              <a:rPr sz="1300" b="0">
                <a:solidFill>
                  <a:srgbClr val="CBD5E1"/>
                </a:solidFill>
                <a:latin typeface="Segoe UI"/>
              </a:rPr>
              <a:t>Documentación final e informe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Consolas"/>
              </a:rP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8368"/>
            <a:ext cx="256032" cy="2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8404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Consolas"/>
              </a:rPr>
              <a:t>STACK TECNOLÓGICO Y HERRAMIENTAS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Herramientas por etapa del proyecto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72768"/>
            <a:ext cx="10908792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onsolas"/>
              </a:rPr>
              <a:t>FERIAPLACE   ·   BASTIAN REYES   ·   APT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onsolas"/>
              </a:rPr>
              <a:t>Stack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920240"/>
            <a:ext cx="5376672" cy="84124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20240"/>
            <a:ext cx="38000" cy="8412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048256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Levantamiento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37744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Word / Google Docs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920240"/>
            <a:ext cx="5376672" cy="84124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920240"/>
            <a:ext cx="38000" cy="8412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048256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Modelo 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37744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PlantUML · MySQL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944368"/>
            <a:ext cx="5376672" cy="84124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2944368"/>
            <a:ext cx="38000" cy="8412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072384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Arquitectura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401568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PlantUML · VS Code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2944368"/>
            <a:ext cx="5376672" cy="84124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2944368"/>
            <a:ext cx="38000" cy="8412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072384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Desarrollo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401568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Node.js · Express · HTML/CSS/JavaScript · Git/GitHub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968496"/>
            <a:ext cx="5376672" cy="84124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3968496"/>
            <a:ext cx="38000" cy="8412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4096512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Consultas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4425696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MySQL · SQL · MySQL Workbench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200" y="3968496"/>
            <a:ext cx="5376672" cy="84124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72200" y="3968496"/>
            <a:ext cx="38000" cy="8412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4096512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Pruebas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425696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Navegador · pruebas de la API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4992624"/>
            <a:ext cx="5376672" cy="84124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" y="4992624"/>
            <a:ext cx="38000" cy="8412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512064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Documentación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5449824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Word · Git/GitHub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72200" y="4992624"/>
            <a:ext cx="5376672" cy="84124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72200" y="4992624"/>
            <a:ext cx="38000" cy="8412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512064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Mapa de puestos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5449824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Croquis en JavaScript · Leaflet con comunas de Santiago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Consolas"/>
              </a:rPr>
              <a:t>07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8368"/>
            <a:ext cx="256032" cy="2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8404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Consolas"/>
              </a:rPr>
              <a:t>ARQUITECTURA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  <a:latin typeface="Segoe UI"/>
              </a:rPr>
              <a:t>Cliente web, API REST y base de datos MySQL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72768"/>
            <a:ext cx="10908792" cy="9525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onsolas"/>
              </a:rPr>
              <a:t>FERIAPLACE   ·   BASTIAN REYES   ·   APT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onsolas"/>
              </a:rPr>
              <a:t>Arquitectura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31808" y="1819275"/>
            <a:ext cx="9125336" cy="3768089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rquitec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1333" y="1828800"/>
            <a:ext cx="9106286" cy="374903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5806440"/>
            <a:ext cx="109087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Segoe UI"/>
              </a:rPr>
              <a:t>El mismo servidor Express entrega las páginas y la API en /api. Cada ruta revisa el token, el rol y que la cuenta esté aprobada.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Consolas"/>
              </a:rPr>
              <a:t>08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8368"/>
            <a:ext cx="256032" cy="2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8404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Consolas"/>
              </a:rPr>
              <a:t>MODELO DE DATOS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  <a:latin typeface="Segoe UI"/>
              </a:rPr>
              <a:t>Modelo entidad-relación implementado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72768"/>
            <a:ext cx="10908792" cy="9525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onsolas"/>
              </a:rPr>
              <a:t>FERIAPLACE   ·   BASTIAN REYES   ·   APT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onsolas"/>
              </a:rPr>
              <a:t>Modelo 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12382" y="1773555"/>
            <a:ext cx="7764188" cy="3996689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modelo-er-implement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1907" y="1783080"/>
            <a:ext cx="7745138" cy="397763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589788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Segoe UI"/>
              </a:rPr>
              <a:t>Cambió respecto del modelo de la Fase 1: se pasó a ferias de temporada y se quitaron las tablas de sector, pago e historial (detalle en el informe 2.4).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Consolas"/>
              </a:rPr>
              <a:t>09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8368"/>
            <a:ext cx="256032" cy="2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8404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Consolas"/>
              </a:rPr>
              <a:t>CASO DE USO CU-01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  <a:latin typeface="Segoe UI"/>
              </a:rPr>
              <a:t>Una comerciante consigue su puesto en la feria navideña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72768"/>
            <a:ext cx="10908792" cy="9525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onsolas"/>
              </a:rPr>
              <a:t>FERIAPLACE   ·   BASTIAN REYES   ·   APT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onsolas"/>
              </a:rPr>
              <a:t>Caso de uso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920240"/>
            <a:ext cx="352044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20240"/>
            <a:ext cx="411480" cy="3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1488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441448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11827"/>
                </a:solidFill>
                <a:latin typeface="Segoe UI"/>
              </a:rPr>
              <a:t>Ingreso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852928"/>
            <a:ext cx="3063240" cy="2587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Segoe UI"/>
              </a:rPr>
              <a:t>Carolina Muñoz pide su cuenta con lo que vende. Ya aprobada, solicita un puesto y marca el A3 como preferido.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5112" y="1920240"/>
            <a:ext cx="352044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25112" y="1920240"/>
            <a:ext cx="411480" cy="3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53712" y="21488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Consola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2" y="2441448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11827"/>
                </a:solidFill>
                <a:latin typeface="Segoe UI"/>
              </a:rPr>
              <a:t>Procesamiento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2852928"/>
            <a:ext cx="3063240" cy="2587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Segoe UI"/>
              </a:rPr>
              <a:t>El administrador aprueba la cuenta y asigna el puesto. La asignación usa una transacción que bloquea el puesto (SELECT … FOR UPDATE), así no se entrega dos veces.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0144" y="1920240"/>
            <a:ext cx="352044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0144" y="1920240"/>
            <a:ext cx="411480" cy="380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21488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Consola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2441448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11827"/>
                </a:solidFill>
                <a:latin typeface="Segoe UI"/>
              </a:rPr>
              <a:t>Salida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38744" y="2852928"/>
            <a:ext cx="3063240" cy="2587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Segoe UI"/>
              </a:rPr>
              <a:t>El puesto A3 queda ocupado en el plano público, con $150.000 a pagar. Al marcarlo pagado, se ve en "Pagos de puestos", en "Mis solicitudes" y en el reporte de ocupación.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715000"/>
            <a:ext cx="109087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Consolas"/>
              </a:rPr>
              <a:t>Tablas que cambian: usuario (estado), solicitud (estado, puesto, monto, estado_pago) y puesto (estado).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Consolas"/>
              </a:rPr>
              <a:t>10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8368"/>
            <a:ext cx="256032" cy="2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8404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Consolas"/>
              </a:rPr>
              <a:t>CASO DE USO · INGRESO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  <a:latin typeface="Segoe UI"/>
              </a:rPr>
              <a:t>La comerciante pide su cuenta y un puesto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72768"/>
            <a:ext cx="10908792" cy="9525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onsolas"/>
              </a:rPr>
              <a:t>FERIAPLACE   ·   BASTIAN REYES   ·   APT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onsolas"/>
              </a:rPr>
              <a:t>Ingreso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2627" y="1819275"/>
            <a:ext cx="4181146" cy="4042410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30_08-registro-envi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152" y="1828800"/>
            <a:ext cx="4162096" cy="40233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594360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Segoe UI"/>
              </a:rPr>
              <a:t>Registro: queda pendiente de aprobación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13365" y="1819275"/>
            <a:ext cx="3615349" cy="4042410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14-solicitar-pues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2890" y="1828800"/>
            <a:ext cx="3596299" cy="40233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120640" y="594360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Segoe UI"/>
              </a:rPr>
              <a:t>Solicitud: elige feria, puesto preferido y rubro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Consolas"/>
              </a:rPr>
              <a:t>11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8368"/>
            <a:ext cx="256032" cy="2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8404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Consolas"/>
              </a:rPr>
              <a:t>CASO DE USO · PROCESAMIENTO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  <a:latin typeface="Segoe UI"/>
              </a:rPr>
              <a:t>El administrador aprueba y asigna el puesto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72768"/>
            <a:ext cx="10908792" cy="9525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onsolas"/>
              </a:rPr>
              <a:t>FERIAPLACE   ·   BASTIAN REYES   ·   APT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onsolas"/>
              </a:rPr>
              <a:t>Procesamiento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68727" y="1819275"/>
            <a:ext cx="6651498" cy="1573530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70_11-admin-usuarios-pendie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8252" y="1828800"/>
            <a:ext cx="6632448" cy="1554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3474720"/>
            <a:ext cx="109087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Segoe UI"/>
              </a:rPr>
              <a:t>Aprobación de la cuenta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19223" y="3968114"/>
            <a:ext cx="7350506" cy="1482090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60_16-admin-solicitud-pendien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8748" y="3977639"/>
            <a:ext cx="7331456" cy="14630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0080" y="5532119"/>
            <a:ext cx="109087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Segoe UI"/>
              </a:rPr>
              <a:t>Asignación del puesto A3 (transacción con bloqueo del puesto)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Consolas"/>
              </a:rPr>
              <a:t>12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8368"/>
            <a:ext cx="256032" cy="2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8404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Consolas"/>
              </a:rPr>
              <a:t>CASO DE USO · SALIDA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  <a:latin typeface="Segoe UI"/>
              </a:rPr>
              <a:t>El puesto queda ocupado y el pago registrado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72768"/>
            <a:ext cx="10908792" cy="9525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onsolas"/>
              </a:rPr>
              <a:t>FERIAPLACE   ·   BASTIAN REYES   ·   APT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onsolas"/>
              </a:rPr>
              <a:t>Salida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555" y="1819275"/>
            <a:ext cx="6054090" cy="1669256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380_18-admin-pago-marc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6035040" cy="165020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3570446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Segoe UI"/>
              </a:rPr>
              <a:t>Pagos de puestos: $150.000 cobrado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555" y="4242435"/>
            <a:ext cx="6054090" cy="1390650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80_19-mis-solicitud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251960"/>
            <a:ext cx="6035040" cy="1371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0080" y="571500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Segoe UI"/>
              </a:rPr>
              <a:t>Mis solicitudes: confirmada y pagado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39915" y="1819275"/>
            <a:ext cx="4591050" cy="3548241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20-inicio-plano-ocupad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1828800"/>
            <a:ext cx="4572000" cy="352919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949440" y="5449431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Segoe UI"/>
              </a:rPr>
              <a:t>Plano público: A3 en gris (ocupado)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Consolas"/>
              </a:rPr>
              <a:t>13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8368"/>
            <a:ext cx="256032" cy="2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8404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Consolas"/>
              </a:rPr>
              <a:t>REPORTE DE OCUPACIÓN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  <a:latin typeface="Segoe UI"/>
              </a:rPr>
              <a:t>Ocupación y cobros por feria, descargable en CSV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72768"/>
            <a:ext cx="10908792" cy="9525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onsolas"/>
              </a:rPr>
              <a:t>FERIAPLACE   ·   BASTIAN REYES   ·   APT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onsolas"/>
              </a:rPr>
              <a:t>Reporte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555" y="1819275"/>
            <a:ext cx="7517129" cy="3070593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epor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7498079" cy="305154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4971783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Segoe UI"/>
              </a:rPr>
              <a:t>Captura con datos de prueba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1828800"/>
            <a:ext cx="3136392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80" y="1828800"/>
            <a:ext cx="411480" cy="3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1080" y="2057400"/>
            <a:ext cx="26791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Segoe UI"/>
              </a:rPr>
              <a:t>Cómo se calcula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2468880"/>
            <a:ext cx="2679192" cy="3246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Segoe UI"/>
              </a:rPr>
              <a:t>Una consulta cuenta los puestos de cada feria (totales, ocupados y libres).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Segoe UI"/>
              </a:rPr>
              <a:t>Otra suma las solicitudes y los montos: cobrado y por cobrar.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Segoe UI"/>
              </a:rPr>
              <a:t>El botón Descargar CSV entrega el mismo reporte para Excel.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Consolas"/>
              </a:rPr>
              <a:t>14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8368"/>
            <a:ext cx="256032" cy="2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8404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Consolas"/>
              </a:rPr>
              <a:t>ETAPAS DEL PROYECTO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  <a:latin typeface="Segoe UI"/>
              </a:rPr>
              <a:t>Dónde va el proyecto en la Semana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72768"/>
            <a:ext cx="10908792" cy="9525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onsolas"/>
              </a:rPr>
              <a:t>FERIAPLACE   ·   BASTIAN REYES   ·   APT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onsolas"/>
              </a:rPr>
              <a:t>Etapas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Consolas"/>
              </a:rPr>
              <a:t>S1 – S2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19202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11827"/>
                </a:solidFill>
                <a:latin typeface="Segoe UI"/>
              </a:rPr>
              <a:t>Levantamiento y propuesta de solución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1920240"/>
            <a:ext cx="27706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>
                <a:solidFill>
                  <a:srgbClr val="16A34A"/>
                </a:solidFill>
                <a:latin typeface="Consolas"/>
              </a:rPr>
              <a:t>Terminado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377440"/>
            <a:ext cx="10908792" cy="6350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Consolas"/>
              </a:rPr>
              <a:t>S3 – S4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2505456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11827"/>
                </a:solidFill>
                <a:latin typeface="Segoe UI"/>
              </a:rPr>
              <a:t>Diseño y validación del modelo entidad-relación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2505456"/>
            <a:ext cx="27706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>
                <a:solidFill>
                  <a:srgbClr val="16A34A"/>
                </a:solidFill>
                <a:latin typeface="Consolas"/>
              </a:rPr>
              <a:t>Terminado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962656"/>
            <a:ext cx="10908792" cy="6350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090672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Consolas"/>
              </a:rPr>
              <a:t>S5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3090672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11827"/>
                </a:solidFill>
                <a:latin typeface="Segoe UI"/>
              </a:rPr>
              <a:t>Definición de arquitectura del sistema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3090672"/>
            <a:ext cx="27706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>
                <a:solidFill>
                  <a:srgbClr val="16A34A"/>
                </a:solidFill>
                <a:latin typeface="Consolas"/>
              </a:rPr>
              <a:t>Terminado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547872"/>
            <a:ext cx="10908792" cy="6350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675887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Consolas"/>
              </a:rPr>
              <a:t>S6 – S11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3675887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11827"/>
                </a:solidFill>
                <a:latin typeface="Segoe UI"/>
              </a:rPr>
              <a:t>Desarrollo de módulos funcionales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3675887"/>
            <a:ext cx="27706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>
                <a:solidFill>
                  <a:srgbClr val="16A34A"/>
                </a:solidFill>
                <a:latin typeface="Consolas"/>
              </a:rPr>
              <a:t>9 de 10 listas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133087"/>
            <a:ext cx="10908792" cy="6350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261104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Consolas"/>
              </a:rPr>
              <a:t>S9 – S13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426110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11827"/>
                </a:solidFill>
                <a:latin typeface="Segoe UI"/>
              </a:rPr>
              <a:t>Implementación de consultas SQL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4261104"/>
            <a:ext cx="27706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>
                <a:solidFill>
                  <a:srgbClr val="16A34A"/>
                </a:solidFill>
                <a:latin typeface="Consolas"/>
              </a:rPr>
              <a:t>Reporte listo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718304"/>
            <a:ext cx="10908792" cy="6350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84632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Consolas"/>
              </a:rPr>
              <a:t>S14 – S16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0" y="48463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11827"/>
                </a:solidFill>
                <a:latin typeface="Segoe UI"/>
              </a:rPr>
              <a:t>Pruebas integrales y corrección de errores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4846320"/>
            <a:ext cx="27706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>
                <a:solidFill>
                  <a:srgbClr val="6B7280"/>
                </a:solidFill>
                <a:latin typeface="Consolas"/>
              </a:rPr>
              <a:t>Por hacer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5303520"/>
            <a:ext cx="10908792" cy="6350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431536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Consolas"/>
              </a:rPr>
              <a:t>S17 – S18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86000" y="5431536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11827"/>
                </a:solidFill>
                <a:latin typeface="Segoe UI"/>
              </a:rPr>
              <a:t>Documentación final e informe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78240" y="5431536"/>
            <a:ext cx="27706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>
                <a:solidFill>
                  <a:srgbClr val="6B7280"/>
                </a:solidFill>
                <a:latin typeface="Consolas"/>
              </a:rPr>
              <a:t>Por hacer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888736"/>
            <a:ext cx="10908792" cy="6350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6035040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Segoe UI"/>
              </a:rPr>
              <a:t>Metodología: ágil incremental basada en Scrum adaptado, con una ficha de avance por iteración (Fichas 01 a 04).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Consolas"/>
              </a:rPr>
              <a:t>15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8368"/>
            <a:ext cx="256032" cy="2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8404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Consolas"/>
              </a:rPr>
              <a:t>PRÓXIMOS PASOS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  <a:latin typeface="Segoe UI"/>
              </a:rPr>
              <a:t>Plan para la Fase 3 (Semanas 13 a 18)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72768"/>
            <a:ext cx="10908792" cy="9525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onsolas"/>
              </a:rPr>
              <a:t>FERIAPLACE   ·   BASTIAN REYES   ·   APT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onsolas"/>
              </a:rPr>
              <a:t>Próximos pasos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920240"/>
            <a:ext cx="5376672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20240"/>
            <a:ext cx="411480" cy="3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148840"/>
            <a:ext cx="5376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441448"/>
            <a:ext cx="49194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Segoe UI"/>
              </a:rPr>
              <a:t>Pruebas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852928"/>
            <a:ext cx="4919472" cy="941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Segoe UI"/>
              </a:rPr>
              <a:t>Pruebas automatizadas de la API: aprobación de cuentas, asignación simultánea del mismo puesto y rechazo.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920240"/>
            <a:ext cx="5376672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920240"/>
            <a:ext cx="411480" cy="3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148840"/>
            <a:ext cx="5376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Consola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441448"/>
            <a:ext cx="49194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Segoe UI"/>
              </a:rPr>
              <a:t>Avisos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852928"/>
            <a:ext cx="4919472" cy="941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Segoe UI"/>
              </a:rPr>
              <a:t>Aviso al comerciante cuando su solicitud se confirma o se rechaza.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069080"/>
            <a:ext cx="5376672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069080"/>
            <a:ext cx="411480" cy="3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297680"/>
            <a:ext cx="5376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Consola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590288"/>
            <a:ext cx="49194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Segoe UI"/>
              </a:rPr>
              <a:t>Instalación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001768"/>
            <a:ext cx="4919472" cy="941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Segoe UI"/>
              </a:rPr>
              <a:t>Probar la guía "Instalar desde cero" en otro computador y llevar un respaldo de la base a cada demostración.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4069080"/>
            <a:ext cx="5376672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4069080"/>
            <a:ext cx="411480" cy="3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4297680"/>
            <a:ext cx="5376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Consola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590288"/>
            <a:ext cx="49194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Segoe UI"/>
              </a:rPr>
              <a:t>Cierre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001768"/>
            <a:ext cx="4919472" cy="941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Segoe UI"/>
              </a:rPr>
              <a:t>Documentación final, informe y presentación de la Semana 16.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Consolas"/>
              </a:rPr>
              <a:t>PREGUNTAS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>
                <a:solidFill>
                  <a:srgbClr val="FFFFFF"/>
                </a:solidFill>
                <a:latin typeface="Segoe UI"/>
              </a:rPr>
              <a:t>Gracias por</a:t>
            </a:r>
          </a:p>
          <a:p>
            <a:pPr algn="l"/>
            <a:r>
              <a:rPr sz="6400" b="1">
                <a:solidFill>
                  <a:srgbClr val="FFFFFF"/>
                </a:solidFill>
                <a:latin typeface="Segoe UI"/>
              </a:rPr>
              <a:t>su atención.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Segoe UI"/>
              </a:rPr>
              <a:t>Bastian Reyes · Ingeniería en Informática · Sede Maipú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892040"/>
            <a:ext cx="1069848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074920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onsolas"/>
              </a:rPr>
              <a:t>CORREO</a:t>
            </a:r>
          </a:p>
          <a:p>
            <a:pPr algn="l"/>
            <a:r>
              <a:rPr sz="1400" b="1">
                <a:solidFill>
                  <a:srgbClr val="FFFFFF"/>
                </a:solidFill>
                <a:latin typeface="Consolas"/>
              </a:rPr>
              <a:t>bastian.reyes@duocuc.cl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5074920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onsolas"/>
              </a:rPr>
              <a:t>REPOSITORIO</a:t>
            </a:r>
          </a:p>
          <a:p>
            <a:pPr algn="l"/>
            <a:r>
              <a:rPr sz="1400" b="1">
                <a:solidFill>
                  <a:srgbClr val="FFFFFF"/>
                </a:solidFill>
                <a:latin typeface="Consolas"/>
              </a:rPr>
              <a:t>github.com/bastian380/eriaplace-fase1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